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75" dt="2026-09-04T21:27:59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967A4-B894-4124-A2BB-FF8B18804031}" type="datetimeFigureOut"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88436-D660-47FD-9E2B-BC479EBE5B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24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35280" y="-182880"/>
            <a:ext cx="12188952" cy="6858000"/>
          </a:xfrm>
          <a:prstGeom prst="rect">
            <a:avLst/>
          </a:prstGeom>
          <a:solidFill>
            <a:srgbClr val="1E4020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754880"/>
            <a:ext cx="3657600" cy="3657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AgroMoreira</a:t>
            </a:r>
            <a:endParaRPr lang="en-US" sz="54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Sistema de Gestión Agrícola </a:t>
            </a:r>
            <a:r>
              <a:rPr lang="en-US" sz="2400" dirty="0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con</a:t>
            </a:r>
            <a:r>
              <a:rPr lang="en-US" sz="2200" dirty="0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 Inteligencia Artificial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Cobertura de requisitos legales de protección de datos y trazabilidad agroindustrial: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un enfoque legal-first sobre 26 criterios verificables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7BC62"/>
                </a:solidFill>
                <a:latin typeface="Calibri"/>
                <a:ea typeface="Calibri"/>
                <a:cs typeface="Calibri"/>
              </a:rPr>
              <a:t>Ingeniería de Requerimientos (ISR-401) · Universidad Técnica Estatal de Quevedo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Equipo ACERS — Defensa Final, Entrega 4 (2B)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/>
                <a:ea typeface="Cambria"/>
                <a:cs typeface="Cambria" pitchFamily="34" charset="-120"/>
              </a:rPr>
              <a:t>01</a:t>
            </a:r>
            <a:endParaRPr lang="en-US" sz="4400" dirty="0">
              <a:latin typeface="Cambria"/>
              <a:ea typeface="Cambria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El problema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2240" y="654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1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0" y="6492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ACERS — Sistema de Gestión Agrícola con IA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713232"/>
            <a:ext cx="164592" cy="16459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45720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Agrícola Moreira gestiona cacao y plátano verde con bitácoras físicas y hojas de cálculo.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947672"/>
            <a:ext cx="164592" cy="16459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170180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Dificulta: control de producción, detección temprana de moniliasis y sigatoka, y cumplimiento legal.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3182112"/>
            <a:ext cx="164592" cy="16459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89560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La LOPDP (2021) y la trazabilidad AGROCALIDAD son marcos legales recientes y poco formalizados en la práctica agroindustrial.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4416552"/>
            <a:ext cx="164592" cy="16459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425196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La elicitación convencional (entrevistas) captura necesidades funcionales explícitas, pero puede dejar sin cubrir obligaciones legales que nadie menciona espontáneamente.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Cambria"/>
                <a:ea typeface="Cambria"/>
                <a:cs typeface="Cambria" pitchFamily="34" charset="-120"/>
              </a:rPr>
              <a:t>Pregunta de investigación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4020"/>
                </a:solidFill>
                <a:latin typeface="Cambria"/>
                <a:ea typeface="Cambria"/>
                <a:cs typeface="Cambria" pitchFamily="34" charset="-120"/>
              </a:rPr>
              <a:t>¿Qué requisitos legales de la Ley Orgánica de Protección de Datos y de trazabilidad agroindustrial no quedan cubiertos por los requisitos funcionales elicitados con métodos convencionales, y cómo el enfoque legal-first de Amaral et al. (2021) extiende esa cobertura?</a:t>
            </a:r>
            <a:endParaRPr lang="en-US" sz="2000">
              <a:latin typeface="Cambria"/>
              <a:ea typeface="Cambria"/>
              <a:cs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20"/>
                </a:solidFill>
                <a:latin typeface="Cambria"/>
                <a:ea typeface="Cambria"/>
                <a:cs typeface="Cambria" pitchFamily="34" charset="-120"/>
              </a:rPr>
              <a:t>Contribuciones</a:t>
            </a:r>
            <a:endParaRPr lang="en-US" sz="2400">
              <a:latin typeface="Cambria"/>
              <a:ea typeface="Cambria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Calibri"/>
                <a:ea typeface="Calibri"/>
                <a:cs typeface="Calibri"/>
              </a:rPr>
              <a:t>Modelo conceptual verificable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4892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26 criterios trazables a su artículo legal, en 3 bloques normativos.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32461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34747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Calibri"/>
                <a:ea typeface="Calibri"/>
                <a:cs typeface="Calibri"/>
              </a:rPr>
              <a:t>Evidencia empírica más allá del RGPD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0" y="4892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El enfoque legal-first se valida en un marco legal latinoamericano reciente.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38160" y="324612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34747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53400" y="3982720"/>
            <a:ext cx="358648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1E4020"/>
                </a:solidFill>
                <a:latin typeface="Calibri"/>
                <a:ea typeface="Calibri"/>
                <a:cs typeface="Calibri"/>
              </a:rPr>
              <a:t>Caso agroindustrial subrepresentado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366760" y="4892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Policultivo de cacao y plátano verde en Ecuador; vacío de cobertura no uniforme entre bloques.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y sus interesados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87552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64960" y="1249680"/>
            <a:ext cx="4241800" cy="21285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47840" y="1322832"/>
            <a:ext cx="389128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47840" y="1708912"/>
            <a:ext cx="390144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 producción, insumos y cumplimiento legal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64960" y="2392680"/>
            <a:ext cx="4241800" cy="21183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47840" y="2465832"/>
            <a:ext cx="389128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Jornaleros / Técnicos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847840" y="3075432"/>
            <a:ext cx="39116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labores, cosechas y alertas de campo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64960" y="3535680"/>
            <a:ext cx="4241800" cy="21285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47840" y="3608832"/>
            <a:ext cx="389128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AGROCALIDAD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847840" y="4187952"/>
            <a:ext cx="392176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trazabilidad de cacao y bioseguridad fitosanitaria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64960" y="4678680"/>
            <a:ext cx="4241800" cy="21183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47840" y="4751832"/>
            <a:ext cx="389128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IA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847840" y="5402072"/>
            <a:ext cx="392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 confirmación humana obligatoria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ACERS — Sistema de Gestión Agrícola con IA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4B5EEB-E02B-5C8A-63EC-56DBD9BE8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764" y="1412240"/>
            <a:ext cx="4220391" cy="5323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el enfoque legal-first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91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Convencional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+ walkthrough → requisitos funcionales explícitos del negocio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Legal-first (Amaral et al. 2021)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parte del texto legal → se derivan requisitos verificables de forma sistemática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criterios en 3 bloques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LOPDP (13) · Trazabilidad del cacao, Res. 183 (7) · Bioseguridad, Res. 0072 (6)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del estudio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0400" y="12801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Cuasi-experimento apareado: mismos 26 criterios medidos antes y después (convencional vs. legal-first)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55080" y="12801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280160"/>
            <a:ext cx="109728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estadística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057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con corrección de continuidad (datos binarios pareados)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794760"/>
            <a:ext cx="109728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e IC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72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 proporciones + IC 95% por bootstrap (10.000 réplicas, semilla 42)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55080" y="37947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3794760"/>
            <a:ext cx="109728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sesgo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4572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decisión documentada antes de evaluar + doble codificación independiente (kappa)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minutos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26,9%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convencional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de 26)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96,2%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legal-first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 de 26)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+69,2 pp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(IC95% 50,0–84,6%)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McNemar: χ2 = 16,06,  p = 0,0001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criterios pasaron de no cubierto a cubierto · 0 criterios perdieron cobertura · estadísticamente significativo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Cambria"/>
                <a:ea typeface="Cambria"/>
                <a:cs typeface="Cambria" pitchFamily="34" charset="-120"/>
              </a:rPr>
              <a:t>Cobertura por bloque normativo</a:t>
            </a:r>
            <a:endParaRPr lang="en-US" sz="3200">
              <a:latin typeface="Cambria"/>
              <a:ea typeface="Cambria"/>
              <a:cs typeface="Calibri"/>
            </a:endParaRPr>
          </a:p>
        </p:txBody>
      </p:sp>
      <p:pic>
        <p:nvPicPr>
          <p:cNvPr id="3" name="Image 0" descr="/home/claude/curva_o_barr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051560"/>
            <a:ext cx="694944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051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vacío se concentra en el marco legal más reciente (LOPDP)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8229600" y="146304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 (cacao)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71,4% → 100%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8229600" y="283464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2944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Bioseguridad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33,3% → 100%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229600" y="420624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4315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LOPDP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→ 92,3%</a:t>
            </a: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Discusión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para la investigación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legal-first de Amaral et al. se extiende más allá del RGPD europeo a un marco latinoamericano reciente (LOPDP) y a un dominio agroindustrial de policultivo.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para la práctica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vacío de cobertura no es uniforme: se concentra en el marco legal más nuevo y menos incorporado a la práctica cotidiana — ahí es donde el método legal-first resulta más necesario.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contraintuitivo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37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más grande no estuvo en la trazabilidad técnica (el foco habitual de la literatura), sino en protección de datos personales — un tema que nadie mencionó espontáneamente en las entrevistas.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6080" y="29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Amenazas a la validez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6080" y="1117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30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60400" y="1711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Asignación cubierto/no cubierto parcialmente subjetiva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60400" y="2534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Regla documentada antes de evaluar + segundo revisor independiente (kappa = 1,000)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92520" y="1117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66840" y="130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66840" y="1711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Caso único; no generaliza a otras fincas o jurisdicciones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466840" y="2534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Documentación exhaustiva del contexto (Runeson y Höst); límite declarado explícitamente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6080" y="37236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0400" y="3906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constructo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0400" y="4318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Los 26 criterios son un constructo del equipo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60400" y="5140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Cada criterio se deriva de un artículo legal explícito, auditable en la matriz de trazabilidad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92520" y="37236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6840" y="3906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conclusión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66840" y="4318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26 unidades limita la potencia de McNemar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466840" y="5140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i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IC 95% por bootstrap + análisis descriptivo por bloque y por fuente de evidencia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294640" y="6375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67040" y="6375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Agrícola Moreira, el enfoque legal-first elevó la cobertura de 26,9% a 96,2% — una diferencia de 69,2 puntos porcentuales, estadísticamente significativa y sin retrocesos.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3867912"/>
            <a:ext cx="137160" cy="1371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794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con el administrador el único criterio condicional (C11)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1520" y="4462272"/>
            <a:ext cx="137160" cy="1371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389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el modelo de 26 criterios en otras fincas de policultivo ecuatorianas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" y="5056632"/>
            <a:ext cx="137160" cy="1371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983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modelo a otros marcos legales latinoamericanos similares a la LOPDP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del prototipo</a:t>
            </a:r>
            <a:endParaRPr lang="en-US" sz="3200" dirty="0"/>
          </a:p>
        </p:txBody>
      </p:sp>
      <p:pic>
        <p:nvPicPr>
          <p:cNvPr id="5" name="Image 0" descr="/home/claude/MU-00_Prototyp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463040"/>
            <a:ext cx="6035040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2376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a demostrar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22376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1214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consentimiento LOPDP y derechos ARCO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22376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127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IA con confirmación humana obligatoria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42976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estable, credenciales de demostración documentadas en 05_MVP/README.md — nunca credenciales reales del cliente.</a:t>
            </a: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abiertos y reproducibilidad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463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de replicación — CC BY 4.0 (datos) · MIT (código)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6974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y desviaciones registradas — osf.io/7cvhy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Heritage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9319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Archivado del repositorio para preservación a largo plazo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166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51663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07_Datos/scripts/run_all.py reproduce tablas y figura desde los datos crudos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2336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0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ACERS — Sistema de Gestión Agrícola con IA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ACERS — AgroMoreira, Sistema de Gestión Agrícola con IA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69</cp:revision>
  <dcterms:created xsi:type="dcterms:W3CDTF">2026-09-04T20:00:02Z</dcterms:created>
  <dcterms:modified xsi:type="dcterms:W3CDTF">2026-09-04T21:35:58Z</dcterms:modified>
</cp:coreProperties>
</file>